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36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M.B.A. Thesis and Publication</a:t>
            </a:r>
            <a:endParaRPr lang="en-US" sz="3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BAP602A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280160"/>
            <a:ext cx="8686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[Your Name]</a:t>
            </a:r>
            <a:endParaRPr lang="en-US" sz="2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 [Your Registration Number]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</a:t>
            </a:r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Management and Commerce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 :    Management Studies</a:t>
            </a:r>
            <a:endParaRPr lang="en-US" sz="2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  :    MBA in Business Analytics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             :    FT 2024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the Dissertation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914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the Thesis: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 Learning Framework for Financial Distress Prediction in Indian Manufacturing Companies.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Place of Work: </a:t>
            </a:r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 of Work]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Literature Review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Gaps  |  Research Questions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Aim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Methodology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Dissertation Work Progress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Discussions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Conclusions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financial distress remains a persistent global problem because high fixed asset intensity and debt dependence amplify cash-flow shocks (e.g., General Motors, 2009; Arrium Limited, 2016; Thomas Cook, 2019).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manufacturing is the worst-hit sector for corporate failure: Bhushan Steel, Essar Steel, Bhushan Power &amp; Steel and Videocon have all gone through IBC proceedings.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accounts for ~37% of all Corporate Insolvency Resolution Process (CIRP) cases in India — more than any other sector, including real estate.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2024: 8,175 CIRPs initiated; only 56% ended in resolution/settlement, while 44% moved to liquidation — evidence that delayed detection causes irrecoverable losses.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CIRP resolution time is 683 days (vs. the 270-day statutory limit); recovery ratios remain low at ~32% (secured) and ~25% (unsecured) creditors.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several cases, assets were found to be worth only ~7% of outstanding debt by the time insolvency began — underscoring the need for early, reliable warning systems.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65760"/>
            <a:ext cx="10972800" cy="5943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alone cannot solve this problem – robust empirical, data-driven early-warning models are required.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(Altman’s Z-score, Springate’s S-score) were built decades ago on Western economies and have been shown to lose relevance for Indian firms (Singh &amp; Singla, 2023).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improve predictive accuracy, but critics note they sacrifice explainability — a serious concern for lenders, regulators and boards who must justify decisions (Liu et al., 2023).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solution must therefore: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   Identify India-specific financial and firm-level indicators,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  Benchmark ML against classical models,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  Explain predictions using XAI techniques,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 Test robustness across industries, economic cycles and regulatory regimes.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11887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97280"/>
                <a:gridCol w="1463040"/>
                <a:gridCol w="1463040"/>
                <a:gridCol w="1828800"/>
                <a:gridCol w="1645920"/>
                <a:gridCol w="155448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Author,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Publication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Appraisal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Published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Altman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(1968)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Z-score MDA model for bankruptcy 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MDA; 33 bankrupt / 33 non-bankrupt US mfg firms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classification accuracy up to 2 years before failure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MDA/Z-score is a foundational early-warning tool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US-centric; MDA linearity assumptions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Obj 2; coefficients may be obsolete for Indian mfg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(1978)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S-score for insolvency classification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Stepwise MDA; 4 ratios from 19 candidates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S-score captures short-term debt-servicing pressure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S-score is a prevalent baseline in comparative literature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Single-country Canadian context; MDA assumptions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alongside Altman as benchmark in Obj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Ohlson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logit bankruptcy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logit; 105+2,058 US firms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Size, leverage, performance, liquidity significant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logit preferable to rigid MDA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industrial firms only; no market-price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logit benchmarking under Obj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Barboza, Kimura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Altman (2017)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ML vs. traditional bankruptcy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Bagging, Boosting, SVM; ~10,000 firm-years; AUC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(esp. Random Forest) substantially outperformed Z-score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learning improves distress prediction over classical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 focus; no XAI testing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Obj 2 ML vs. traditional design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Sehgal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determinants of Indian listed firm distress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Logit, SVM, ANN; NSE firms 2010–2016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SVM/ANN beat logit; 1-yr forecasts more accurate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improves Indian distress prediction; key micro ratios identified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Cross-sector; no manufacturing-only validation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Obj 1–2; mfg-specific gap remains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Mishra, Ashok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Tandon (2021)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bank distress 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LR, LDA, ANN; 75 Indian banks; CAMELS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competitive with statistical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comparison valuable for early-warning design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Banking-only; not transferable to manufacturing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multi-model Obj 2; sector differs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for financial distress in Vietnam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LR, SVM, RF, ANN, XGBoost + SHAP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Ensemble/boosting highest accuracy; SHAP identifies key ratios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Transferable XAI framework for emerging Asian markets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Vietnamese market only; not tested in India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Methodological anchor for Obj 3 SHAP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(Continued)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11887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97280"/>
                <a:gridCol w="1463040"/>
                <a:gridCol w="1463040"/>
                <a:gridCol w="1828800"/>
                <a:gridCol w="1645920"/>
                <a:gridCol w="155448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Author,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Publication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Appraisal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Published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accounting vs. Merton model under IBC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ROC/Gini; 30 IBC + 30 solvent matched firms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Ohlson best accounting model; Merton best overall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models need Indian recalibration post-IBC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matched sample; limited sector disaggregation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Obj 4 post-IBC robustness testing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&amp;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Singla (2023)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Re-estimate Altman for Indian manufacturing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Stepwise logistic regression; ROC/AUROC on mfg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Five-factor logit outperformed original Altman Z-score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India-specific recalibration materially improves mfg classification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broader sub-sector and multi-period testing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mfg-India prior; directly motivates this study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interpretability for gradient boosting distress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XGBoost/LightGBM + SHAP; Chinese listed firms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Leverage, profitability, liquidity top SHAP predictors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can reconcile ML accuracy with interpretability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focus; Indian mfg application absent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Methodological anchor for Obj 3 SHAP-based XAI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early-warning for Chinese A-shares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 optimized XGBoost + SHAP + ISM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3.32% accuracy gain; profitability influence varies with lead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Rapidly growing govt-influenced market addressed explainability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A-share market specific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explainability goal of this project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Mahesh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small enterprise distress with macro variables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logit; firm ratios + GDP, inflation, EPU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EPU significantly raises distress probability beyond firm ratios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Macro/policy uncertainty should enter emerging-market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Small-enterprise focus; contradicts Sethi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Obj 4 on macro/regime robustness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Sethi &amp;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Mahadik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service firm distress 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LR, LDA, ANN; 42,900 firm-years (2012–2022)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87.28%; macro variables insignificant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effects may be sector-contingent, not universal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Service-sector; no SHAP; contested vs. Mahesh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mfg-specific re-test of macro (Obj 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Tabatabaei &amp;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Mousavi (2026)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Regime-dependent XAI for US leverage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XGBoost + regime-specific SHAP; S&amp;P 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 shifted across GFC, COVID, inflation regimes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 drivers are non-linear and regime-dependent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large-cap only; not applied to India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dynamic explainability goal for India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Literature Review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works (Altman, 1968; Ohlson, 1980) established ratio-based bankruptcy prediction using discriminant and logit models, but were built on Western data.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comparative studies (Barboza et al., 2017; Sehgal et al., 2021) demonstrate that machine learning models (RF, SVM, ANN) consistently outperform traditional Z-score and logit models.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context studies (Gupta, 2023; Singh &amp; Singla, 2023) confirm the need for locally recalibrated models, with Ohlson and revised logit models showing best performance.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research (Liu et al., 2023; Deng et al., 2025) using SHAP values reveals leverage, profitability, and liquidity as the most influential predictor categories.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inclusion remains contested: Mahesh et al. (2025) found EPU significant for small firms, while Sethi &amp; Mahadik (2025) found macro variables insignificant for services.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literature supports a shift toward machine learning, but gaps remain in sector-specific (manufacturing) focus, XAI application in India, and macroeconomic robustness testing.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1: No Manufacturing-Specific Indian Distress Model at Scale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manufacturing contributing ~37% of IBC CIRPs, most Indian studies are cross-sector, banking, services, or small-enterprise focused.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terms: the sector with the most insolvencies has the least tailored early-warning model.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2: Limited Explainable AI (SHAP) in Indian Distress Research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ML models exist, but Indian literature rarely shows which financial-indicator categories drive predictions in an interpretable way.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terms: models may be accurate, yet stakeholders cannot see why a firm is flagged as distressed.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3: Unsettled Robustness Across Regimes and Macro Factors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conflicts on macroeconomic predictors, and few models are stress-tested across pre-IBC, post-IBC and COVID-19 periods for manufacturing.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terms: we do not yet know whether today’s distress signals remain valid when policy and crisis conditions change.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Aim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</a:t>
            </a:r>
            <a:pPr indent="0" marL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 Learning Framework for Financial Distress Prediction in Indian Manufacturing Companies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validate an explainable machine-learning framework for predicting financial distress in Indian listed manufacturing companies using financial and macroeconomic indicators, benchmarked against traditional models and interpreted using SHAP.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05840"/>
            <a:ext cx="10972800" cy="5486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To identify the firm-level financial ratios, firm characteristics, and macroeconomic indicators significantly associated with financial distress among Indian manufacturing companies.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To develop machine learning models for one-year-ahead financial distress prediction and to benchmark their predictive accuracy against the traditional Altman Z″-score and Springate S-score models.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To determine, through explainable artificial intelligence (SHAP) techniques, which individual indicators and categories of indicators contribute most significantly to the machine learning model’s predictions.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4: To evaluate the robustness and generalisability of the developed model across manufacturing sub-sectors, the pre-/post-IBC regulatory regimes, and the COVID-19 period.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Methodology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438912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of the 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Methodology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firm-level financial ratios, firm characteristics, and macroeconomic indicators associated with distress in Indian manufacturing.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Year-wise winsorization (1st/99th percentile); Mann-Whitney U comparison; Multivariate logistic regression with industry &amp; year fixed effects (Spec A); Second specification replacing year FE with four macro regressors (Spec B).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CMIE ProwessIQ (FY2014–FY2025); RBI Handbook; policyuncertainty.com; Python (pandas, NumPy, statsmodels, SciPy).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ML models for one-year-ahead prediction and benchmark against Altman Z″ and Springate S-score.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 train (FY2014–2021) / test (FY2022–2024) split; Logistic Regression, Random Forest (400 trees), XGBoost (300 estimators); Altman Z″ and Springate S computed from fixed formulae; AUC-ROC evaluation.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(scikit-learn, XGBoost); Google Colab.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 relative importance of predictors using explainable AI across indicator categories.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values on winning XGBoost model; feature-level ranking by mean |SHAP|; aggregation into 8 indicator categories; beeswarm direction analysis.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library; model artefacts from Obj 2; matplotlib.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robustness across manufacturing sub-sectors, pre-/post-IBC regimes, and COVID-19 period.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Within-subgroup re-estimation + full-sample transfer AUC across 10 sectors; within-period 70/30 COVID split; macro-mechanism logistic regression with COVID dummy.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CMIE ProwessIQ + macro data; Python (scikit-learn, XGBoost, statsmodels).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 / Framework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7280" y="914400"/>
            <a:ext cx="98755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Dissertation Work Progress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795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45720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of the 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Methodology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(Completed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On-going / Yet to commence)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firm-level financial ratios, firm characteristics, and macroeconomic indicators associated with distress.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Winsorization; Mann-Whitney U; Multivariate logistic regression with industry &amp; year fixed effects.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ML models for one-year-ahead prediction; benchmark against Altman Z″ and Springate S-score.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 train/test split; LR, RF, XGBoost vs. formula-based benchmarks; AUC-ROC comparison.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 relative importance of distress predictors using explainable AI (SHAP) across indicator categories.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values on XGBoost; feature-level ranking; 8-category aggregation; beeswarm direction analysis.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robustness across manufacturing sub-sectors, pre-/post-IBC regimes, and the COVID-19 period.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 &amp; full-model transfer AUC (10 sectors); within-period 70/30 COVID split; macro-mechanism logistic regression.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2743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**At least 2 objectives should be completed — All 4 objectives are completed in this study.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Discussions — Objective 1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5.1: Univariate Comparison of Winsorized Financial Ratios, Distressed vs. Non-Distressed (n=36,984)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(Healthy)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(Distressed)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Assets (PAT/TA)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(Total Assets)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Age (years)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97280"/>
            <a:ext cx="4114800" cy="20116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863840" y="32004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(Objective 1):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10 variables statistically significant at 5% level.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separation: Interest Coverage (38.83 vs –0.59) — consistent with distress definition.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Worth/TA (0.50 vs 0.03): distressed firms are near balance-sheet insolvency.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Multivariate logistic regression (Spec A): 8 of 9 variables remained significant after industry + year fixed effects.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ratio lost significance (p=0.840) once industry/year effects are controlled — its univariate association reflected industry variation.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Distress rate spiked to 23.8% in FY2021 (COVID peak), then fell to 15.6% by FY2025.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substantially supported.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Discussions — Objective 2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5.5: One-Year-Ahead Distress Prediction Accuracy (AUC), ML Models vs. Benchmarks, FY2022–2024 Test Set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2011680"/>
                <a:gridCol w="640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+ Macro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+ Macro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+ Macro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Springate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only (formula)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Altman Z″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only (formula)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669280" cy="4846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4320" y="384048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achieved the highest AUC (0.889), outperforming Altman Z″ by 0.101 and Springate S by 0.062 AUC points on the held-out test set.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Firm-Only Ablation: Removing 4 macro features increased AUC to 0.891 (ΔAUC = –0.002), proving macro variables add negligible predictive value when firm ratios are already known.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means all discriminative power comes from firm-level financial fundamentals — the macro environment is already embedded in the ratios by the time annual data is reported.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supported: ML significantly outperforms traditional models.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Discussions — Objective 3 (Feature-Level)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943600" cy="4389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5.9: Feature Ranking by Mean |SHAP|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155448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|SHAP|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(ICR)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Assets (ROA)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 /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Leverage/Solvency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/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Log(Assets)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Char.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WALR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WPI Inflation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82880" y="5577840"/>
            <a:ext cx="1170432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ratio emerges as the single most important predictor of one-year-ahead distress (mean |SHAP| = 0.838), 30% higher than the second-ranked feature. For a credit officer, ICR is the lead monitoring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— Objective 3 (Category-Level &amp; Direction)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486400" cy="38404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943600" cy="2560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43600" y="3657600"/>
            <a:ext cx="594360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SHAP Importance: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Profitability (27.0%) and Debt Service (25.4%) together account for &gt;52% of total SHAP importance, confirming they are the primary drivers of distress predictions.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Leverage/Solvency follows at 11.9%; Macro category = 10.5% but the ablation shows this is redistributed importance, not incremental forecasting value.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Liquidity (5.7%) and Cash Flow (5.0%) are the least important categories — current ratio is not a reliable standalone signal.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Direction (top 4 predictors): High ICR, ROA, NW/TA, and Sales/TA values push SHAP negative (lower distress risk); low values push positive (higher distress risk). No sign reversals observed — consistent with financial intuition.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supported: Indicator categories contribute unequally to model predictions.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and Discussions — Objective 4 (Sectors)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858000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2376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5.11: AUC by Manufacturing Sector Group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82296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Automotive &amp; Auto Comp.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&amp; Electrical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Diversified &amp; Misc. Mfg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FMCG &amp; Food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Eng., Metals &amp; Mining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Chemicals, Petrochem &amp; Pharma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Plastics, Rubber &amp; Packaging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Textiles, Apparel &amp; Leather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82880" y="5029200"/>
            <a:ext cx="11704320" cy="1645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AUCs range from 0.847 (Textiles) to 0.966 (Automotive) — spread of 0.118 points.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sectors exceed 0.80; 9 of 10 beat the Springate S baseline (0.827).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Textiles, Apparel &amp; Leather needs more cautious threshold-setting.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Automotive’s transfer AUC (0.966) &gt;&gt; within-subgroup (0.867), suggesting the pooled model generalises better than overfitted sector-specific models.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— Objective 4 (COVID-19 &amp; IBC Regime)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5.13: COVID vs. Non-COVID Prediction Accuracy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(Within-Subgroup)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(FY2020–2021)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Non-COVID (all other years)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27432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5.14: COVID Dummy Coefficient With/Without Macro Controls</a:t>
            </a:r>
            <a:endParaRPr lang="en-US" sz="12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Dummy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macro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macro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(GDP, WPI, EPU, WALR)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05840"/>
            <a:ext cx="5029200" cy="3840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58368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Confusion Matrix at 0.5 Threshold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274320" y="4206240"/>
            <a:ext cx="11704320" cy="2560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remained highly discriminatory in both periods: COVID AUC (0.892) vs. Non-COVID (0.911) — both well above the Springate S benchmark (0.827).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COVID dummy drops 61% (0.252 → 0.099) and becomes insignificant (p=0.479) after adding macro controls — proving the COVID distress spike was driven by GDP collapse and EPU surge, not a pandemic-specific structural mechanism.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Pre-/post-IBC comparison could not be completed: all test observations (FY2022–2024) fall in the post-IBC regime. Left for future research.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partially supported: meaningful sector differences exist, but period differences are macro-driven.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Results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658368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1: Association of financial ratios with distress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variables significant univariately (Mann-Whitney U, p&lt;0.001 each); 8 of 9 remained significant after industry + year FE. Current ratio lost significance (p=0.840). Overall distress rate = 18.73%, peaking at 23.8% in COVID FY2021.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2: ML vs. traditional benchmarks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AUC = 0.889, outperforming Random Forest (0.887), Logistic Regression (0.857), Springate S (0.827), and Altman Z″ (0.788). Macro ablation showed ΔAUC = –0.002: firm ratios alone suffice for prediction.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3: SHAP 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ratio = #1 predictor (|SHAP| = 0.838). Profitability (27%) + Debt Service (25.4%) = &gt;52% of total SHAP importance. Macro category = 10.5% but adds negligible AUC. SHAP directions consistent with financial intuition.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 4: Robustness across sectors &amp; periods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AUCs range 0.847–0.966 (all &gt;0.80); COVID AUC=0.892 (stable); COVID spike explained by macro shock (dummy drops 61% with macro controls, p=0.479). IBC comparison untestable.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Conclusions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10972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1: The Supremacy of Machine Learning Over Traditional Models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ML models (XGBoost, AUC 0.889) significantly outperform traditional linear scoring models (Altman Z″ at 0.788, Springate S at 0.827) for Indian manufacturing. The SHAP analysis confirmed these models capture genuine non-linear interactions, particularly in the interest coverage ratio, that linear models cannot grasp.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2: Macro Variables Explain Contemporaneous Distress but Not One-Year-Ahead Prediction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and EPU explain why distress cycles occur (the COVID dummy became insignificant after adding macro controls), but they add negligible value to one-year-ahead firm-level prediction (ΔAUC = –0.002). By the time financial statements are reported, the macro shock is already embedded in the firm’s ratios.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Banks/RBI: Transition from static Z-scores to ML-based systems; prioritize interest coverage ratio as lead monitoring variable. CFOs: Maintain strong NW/TA and disciplined interest coverage. Policymakers: Countercyclical monetary policy and regulatory certainty directly reduce manufacturing distress.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11887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Activities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Identification &amp; Problem Statement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Variables, Aim, Objectives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Preprocessing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Development (Obj 1–2)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Explainability (Obj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 Testing (Obj 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 &amp; Report Writing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Rewriting &amp; Corrections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0" y="6217920"/>
            <a:ext cx="365760" cy="182880"/>
          </a:xfrm>
          <a:prstGeom prst="rect">
            <a:avLst/>
          </a:prstGeom>
          <a:solidFill>
            <a:srgbClr val="0066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200400" y="6172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0" y="6217920"/>
            <a:ext cx="365760" cy="182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0" y="6172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960120"/>
            <a:ext cx="1124712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Altman, E.I. (1968) ‘Financial ratios, discriminant analysis and the prediction of corporate bankruptcy’, The Journal of Finance, 23(4), pp. 589–609.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Springate, G.L.V. (1978) Predicting the Possibility of Failure in a Canadian Firm. Unpublished MBA Research Project, Simon Fraser University.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Ohlson, J.A. (1980) ‘Financial ratios and the probabilistic prediction of bankruptcy’, Journal of Accounting Research, 18(1), pp. 109–131.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Barboza, F., Kimura, H. and Altman, E. (2017) ‘Machine learning models and bankruptcy prediction’, Expert Systems with Applications, 83, pp. 405–417.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Sehgal, S., Mishra, R.K., Deisting, F. and Vashisht, R. (2021) ‘On the determinants and prediction of corporate financial distress in India’, Managerial Finance, 47(10), pp. 1428–1447.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Mishra, N., Ashok, S. and Tandon, D. (2021) ‘Predicting financial distress in the Indian banking sector: a comparative study’, Global Business Review.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Tran, L., Le, H., Nguyen, T. and Nguyen, V. (2022) ‘Explainable machine learning for financial distress prediction: evidence from Vietnam’.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Gupta, V. (2023) ‘Evaluating the accuracy of prediction in accounting-based models for companies in India under IBC’, JCAR, 12(1), pp. 8–17.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Singh, G. and Singla, R. (2023) ‘Prediction of financial distress in the Indian corporate sector: an improvement over Altman’s Z-score model’, IJBCRM, 13(1).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Liu, J., Li, C., Ouyang, P., Liu, J. and Wu, C. (2023) ‘Interpreting the prediction results of tree-based gradient boosting models for financial distress prediction’, Journal of Forecasting, 42(5), pp. 1112–1137.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Deng, X., Li, Z., Zhu, Y., Wang, J., Ning, H., Yi, G. and Shimada, T. (2025) ‘Financial distress warning and risk path analysis for Chinese listed companies’, Cogent Economics &amp; Finance.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Mahesh, R., Kumari, S., Sharma, N. and Ramesh, G. (2025) ‘Predicting financial distress in emerging markets: the case of Indian small enterprises’, Cogent Economics &amp; Finance, 13(1), 2489708.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Sethi, S.R. and Mahadik, D.A. (2025) ‘Forecasting financial distress for organizational sustainability: an empirical analysis’, Sustainable Futures, 9, 100429.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Tabatabaei, S.A. and Mousavi, S.M. (2026) ‘Explainable AI for financial distress: evidence from market volatility and regime dynamics’.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1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/ Journal Submission Details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572000" cy="0"/>
          </a:xfrm>
          <a:prstGeom prst="line">
            <a:avLst/>
          </a:prstGeom>
          <a:noFill/>
          <a:ln w="25400">
            <a:solidFill>
              <a:srgbClr val="9D1D59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Publication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and Patent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2026-09-06T15:38:28Z</dcterms:created>
  <dcterms:modified xsi:type="dcterms:W3CDTF">2026-09-06T15:38:28Z</dcterms:modified>
</cp:coreProperties>
</file>